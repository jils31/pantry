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6000" b="1">
                <a:solidFill>
                  <a:srgbClr val="1F242B"/>
                </a:solidFill>
                <a:latin typeface="Helvetica Neue"/>
              </a:defRPr>
            </a:pPr>
            <a:r>
              <a:t>Pantry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6B727A"/>
                </a:solidFill>
                <a:latin typeface="Helvetica Neue"/>
              </a:defRPr>
            </a:pPr>
            <a:r>
              <a:t>A kitchen inventory and expiry tracker, built and shipped with a full DevOps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F242B"/>
                </a:solidFill>
                <a:latin typeface="Helvetica Neue"/>
              </a:defRPr>
            </a:pPr>
            <a:r>
              <a:t>Jils Patel   ·   github.com/Jils31/pantry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242B"/>
                </a:solidFill>
                <a:latin typeface="Helvetica Neue"/>
              </a:defRPr>
            </a:pPr>
            <a: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Tracks what is in the kitchen: name, category, quantity, unit, location, expiry date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Flags items that are running low and items expiring within a week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Consume endpoint decrements stock and refuses to overdraw (HTTP 409)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Stats endpoint feeds the dashboard counters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React UI talks to a FastAPI backend over /api; Postgres holds the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242B"/>
                </a:solidFill>
                <a:latin typeface="Helvetica Neue"/>
              </a:defRPr>
            </a:pPr>
            <a:r>
              <a:t>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Backend: Python 3.12, FastAPI, SQLAlchemy 2, Alembic migrations, psycopg 3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Frontend: React 18 + Vite, served by nginx-unprivileged on port 8080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Database: PostgreSQL 16 as a StatefulSet with a persistent volume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Containers: multi-stage images, non-root users, Trivy scanned, pushed to GHCR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Platform: Kubernetes (Minikube and EKS), Helm, Argo CD, Prometheus, Grafana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Infrastructure: Terraform with the community VPC and EKS modules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242B"/>
                </a:solidFill>
                <a:latin typeface="Helvetica Neue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42B"/>
                </a:solidFill>
                <a:latin typeface="Menlo"/>
              </a:defRPr>
            </a:pPr>
            <a:r>
              <a:t>developer push  ──▶  GitHub Actions</a:t>
            </a:r>
          </a:p>
          <a:p>
            <a:pPr>
              <a:spcAft>
                <a:spcPts val="800"/>
              </a:spcAft>
              <a:defRPr sz="1500" b="0">
                <a:solidFill>
                  <a:srgbClr val="1F242B"/>
                </a:solidFill>
                <a:latin typeface="Menlo"/>
              </a:defRPr>
            </a:pPr>
            <a:r>
              <a:t>                      ├─ pytest (9 tests, SQLite)      ├─ frontend build</a:t>
            </a:r>
          </a:p>
          <a:p>
            <a:pPr>
              <a:spcAft>
                <a:spcPts val="800"/>
              </a:spcAft>
              <a:defRPr sz="1500" b="0">
                <a:solidFill>
                  <a:srgbClr val="1F242B"/>
                </a:solidFill>
                <a:latin typeface="Menlo"/>
              </a:defRPr>
            </a:pPr>
            <a:r>
              <a:t>                      ├─ build backend + frontend images</a:t>
            </a:r>
          </a:p>
          <a:p>
            <a:pPr>
              <a:spcAft>
                <a:spcPts val="800"/>
              </a:spcAft>
              <a:defRPr sz="1500" b="0">
                <a:solidFill>
                  <a:srgbClr val="1F242B"/>
                </a:solidFill>
                <a:latin typeface="Menlo"/>
              </a:defRPr>
            </a:pPr>
            <a:r>
              <a:t>                      ├─ Trivy  HIGH/CRITICAL, fail on fixable findings</a:t>
            </a:r>
          </a:p>
          <a:p>
            <a:pPr>
              <a:spcAft>
                <a:spcPts val="800"/>
              </a:spcAft>
              <a:defRPr sz="1500" b="0">
                <a:solidFill>
                  <a:srgbClr val="1F242B"/>
                </a:solidFill>
                <a:latin typeface="Menlo"/>
              </a:defRPr>
            </a:pPr>
            <a:r>
              <a:t>                      ├─ push  ghcr.io/jils31/pantry/{backend,frontend}:&lt;sha&gt;</a:t>
            </a:r>
          </a:p>
          <a:p>
            <a:pPr>
              <a:spcAft>
                <a:spcPts val="800"/>
              </a:spcAft>
              <a:defRPr sz="1500" b="0">
                <a:solidFill>
                  <a:srgbClr val="1F242B"/>
                </a:solidFill>
                <a:latin typeface="Menlo"/>
              </a:defRPr>
            </a:pPr>
            <a:r>
              <a:t>                      └─ kind cluster + helm install + smoke test</a:t>
            </a:r>
          </a:p>
          <a:p>
            <a:pPr>
              <a:spcAft>
                <a:spcPts val="800"/>
              </a:spcAft>
              <a:defRPr sz="1500" b="0">
                <a:solidFill>
                  <a:srgbClr val="1F242B"/>
                </a:solidFill>
                <a:latin typeface="Menlo"/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1F242B"/>
                </a:solidFill>
                <a:latin typeface="Menlo"/>
              </a:defRPr>
            </a:pPr>
            <a:r>
              <a:t>Terraform  ──▶  VPC 10.40.0.0/16 (2 AZ, 1 NAT)  ──▶  EKS 1.31, managed spot node group</a:t>
            </a:r>
          </a:p>
          <a:p>
            <a:pPr>
              <a:spcAft>
                <a:spcPts val="800"/>
              </a:spcAft>
              <a:defRPr sz="1500" b="0">
                <a:solidFill>
                  <a:srgbClr val="1F242B"/>
                </a:solidFill>
                <a:latin typeface="Menlo"/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1F242B"/>
                </a:solidFill>
                <a:latin typeface="Menlo"/>
              </a:defRPr>
            </a:pPr>
            <a:r>
              <a:t>Argo CD  ──▶  helm/pantry on main  ──▶  namespace pantry</a:t>
            </a:r>
          </a:p>
          <a:p>
            <a:pPr>
              <a:spcAft>
                <a:spcPts val="800"/>
              </a:spcAft>
              <a:defRPr sz="1500" b="0">
                <a:solidFill>
                  <a:srgbClr val="1F242B"/>
                </a:solidFill>
                <a:latin typeface="Menlo"/>
              </a:defRPr>
            </a:pPr>
            <a:r>
              <a:t>   Ingress (nginx) ─▶ /api ─▶ pantry-backend (Deployment + HPA 2..5)</a:t>
            </a:r>
          </a:p>
          <a:p>
            <a:pPr>
              <a:spcAft>
                <a:spcPts val="800"/>
              </a:spcAft>
              <a:defRPr sz="1500" b="0">
                <a:solidFill>
                  <a:srgbClr val="1F242B"/>
                </a:solidFill>
                <a:latin typeface="Menlo"/>
              </a:defRPr>
            </a:pPr>
            <a:r>
              <a:t>                   ─▶ /    ─▶ pantry-frontend (Deployment x3)</a:t>
            </a:r>
          </a:p>
          <a:p>
            <a:pPr>
              <a:spcAft>
                <a:spcPts val="800"/>
              </a:spcAft>
              <a:defRPr sz="1500" b="0">
                <a:solidFill>
                  <a:srgbClr val="1F242B"/>
                </a:solidFill>
                <a:latin typeface="Menlo"/>
              </a:defRPr>
            </a:pPr>
            <a:r>
              <a:t>   pantry-backend ─▶ postgres (StatefulSet + PVC, EBS on EKS)</a:t>
            </a:r>
          </a:p>
          <a:p>
            <a:pPr>
              <a:spcAft>
                <a:spcPts val="800"/>
              </a:spcAft>
              <a:defRPr sz="1500" b="0">
                <a:solidFill>
                  <a:srgbClr val="1F242B"/>
                </a:solidFill>
                <a:latin typeface="Menlo"/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1F242B"/>
                </a:solidFill>
                <a:latin typeface="Menlo"/>
              </a:defRPr>
            </a:pPr>
            <a:r>
              <a:t>Prometheus scrapes /metrics on annotated pods  ──▶  Grafana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242B"/>
                </a:solidFill>
                <a:latin typeface="Helvetica Neue"/>
              </a:defRPr>
            </a:pPr>
            <a:r>
              <a:t>CI/CD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test: pytest against SQLite, so the job needs no database service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frontend: npm ci and vite build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images: matrix over backend and frontend; build, Trivy, push to GHCR tagged with the commit SHA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deploy: kind cluster, helm install with the fresh images, curl /ready and /api/items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Earlier runs failed on Alpine OpenSSL and Starlette CVEs; fixed with base-image updates and a FastAPI bump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27A"/>
                </a:solidFill>
                <a:latin typeface="Helvetica Neue"/>
              </a:defRPr>
            </a:pPr>
            <a:r>
              <a:t>Images: ghcr.io/jils31/pantry/backend and ghcr.io/jils31/pantry/frontend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242B"/>
                </a:solidFill>
                <a:latin typeface="Helvetica Neue"/>
              </a:defRPr>
            </a:pPr>
            <a:r>
              <a:t>Terraform and 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VPC module: 10.40.0.0/16, two public and two private subnets, one NAT gateway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EKS module: cluster 1.31, add-ons coredns, kube-proxy, vpc-cni, aws-ebs-csi-driver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Managed node group on spot t3.small (the account is on the Free Tier plan)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Node role carries AmazonEBSCSIDriverPolicy so the Postgres PVC binds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Region ap-south-1; terraform.tfvars is gitignored, an example file is committed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27A"/>
                </a:solidFill>
                <a:latin typeface="Helvetica Neue"/>
              </a:defRPr>
            </a:pPr>
            <a:r>
              <a:t>Lesson learned: without the EBS CSI add-on a PVC on EKS stays Pending forever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242B"/>
                </a:solidFill>
                <a:latin typeface="Helvetica Neue"/>
              </a:defRPr>
            </a:pPr>
            <a:r>
              <a:t>Kubernetes and Helm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One chart, helm/pantry, with values files for dev, prod and EKS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Backend: Deployment, readiness on /ready, liveness on /health, HPA 2 to 5 pods at 60% CPU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Frontend: Deployment with the nginx config from a ConfigMap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Postgres: StatefulSet with a volumeClaimTemplate; credentials in a Secret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Ingress routes /api to the backend and everything else to the frontend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Resource requests and limits on every container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242B"/>
                </a:solidFill>
                <a:latin typeface="Helvetica Neue"/>
              </a:defRPr>
            </a:pPr>
            <a:r>
              <a:t>GitOps with Argo 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k8s/argocd-application.yaml points Argo CD at helm/pantry on main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Automated sync with prune and self-heal: change values.yaml, push, the cluster follows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Replica count on the backend Deployment is ignored because the HPA owns it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Manual kubectl changes get reverted, which is the point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242B"/>
                </a:solidFill>
                <a:latin typeface="Helvetica Neue"/>
              </a:defRPr>
            </a:pPr>
            <a:r>
              <a:t>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Backend exposes /metrics with prometheus_client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pantry_http_requests_total by method, route and status; request duration histogram; in-flight gauge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Business counters: pantry_items_added_total and pantry_consumed_total by unit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Prometheus discovers pods through the prometheus.io/scrape annotation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Grafana dashboard is provisioned from a ConfigMap: request rate, p95 latency, 5xx share, HPA replicas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242B"/>
                </a:solidFill>
                <a:latin typeface="Helvetica Neue"/>
              </a:defRPr>
            </a:pPr>
            <a:r>
              <a:t>Troubleshooting drill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Fault 1: backend pointed at a database host that does not exist; found through pod status, events and logs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Fault 2: Ingress /api path names a Service that does not exist; found by walking Ingress to Service to Endpoints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Method: status, events, logs, then the path between components, before changing anything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242B"/>
                </a:solidFill>
                <a:latin typeface="Helvetica Neue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Working app with tests, scanned images and a green pipeline on every push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Reproducible infrastructure on AWS, created and destroyed with Terraform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Declarative deploys through Helm and Argo CD, scaling through the HPA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Metrics, dashboards and a documented way to debug when it breaks</a:t>
            </a:r>
          </a:p>
          <a:p>
            <a:pPr>
              <a:spcAft>
                <a:spcPts val="800"/>
              </a:spcAft>
              <a:defRPr sz="2000" b="0">
                <a:solidFill>
                  <a:srgbClr val="1F242B"/>
                </a:solidFill>
                <a:latin typeface="Helvetica Neue"/>
              </a:defRPr>
            </a:pPr>
            <a:r>
              <a:t>•  Repository: github.com/Jils31/pantry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